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48640" y="1737360"/>
            <a:ext cx="82296" cy="2286000"/>
          </a:xfrm>
          <a:prstGeom prst="roundRect">
            <a:avLst>
              <a:gd name="adj" fmla="val 22222"/>
            </a:avLst>
          </a:prstGeom>
          <a:solidFill>
            <a:srgbClr val="0E8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68680" y="16002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1" i="0">
                <a:solidFill>
                  <a:srgbClr val="0E8A80"/>
                </a:solidFill>
                <a:latin typeface="Arial"/>
              </a:rPr>
              <a:t>SOFTWARE PROJECT PRESENTATION  ·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965960"/>
            <a:ext cx="7315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6000" b="1" i="0">
                <a:solidFill>
                  <a:srgbClr val="FFFFFF"/>
                </a:solidFill>
                <a:latin typeface="Arial"/>
              </a:rPr>
              <a:t>GLASSWALL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017520"/>
            <a:ext cx="66751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200" b="0" i="0">
                <a:solidFill>
                  <a:srgbClr val="C9D6EA"/>
                </a:solidFill>
                <a:latin typeface="Arial"/>
              </a:rPr>
              <a:t>A privacy-preserving browser agent with on-device visual perception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68680" y="4572000"/>
            <a:ext cx="5029200" cy="0"/>
          </a:xfrm>
          <a:prstGeom prst="line">
            <a:avLst/>
          </a:prstGeom>
          <a:ln w="12700">
            <a:solidFill>
              <a:srgbClr val="1B3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68680" y="470916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0" i="0">
                <a:solidFill>
                  <a:srgbClr val="C9D6EA"/>
                </a:solidFill>
                <a:latin typeface="Arial"/>
              </a:rPr>
              <a:t>An AI agent that fills web forms without the AI ever seeing your personal data.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2057400"/>
            <a:ext cx="3291840" cy="585216"/>
          </a:xfrm>
          <a:prstGeom prst="roundRect">
            <a:avLst>
              <a:gd name="adj" fmla="val 15625"/>
            </a:avLst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275320" y="2084831"/>
            <a:ext cx="3108960" cy="548640"/>
          </a:xfrm>
          <a:prstGeom prst="rect">
            <a:avLst/>
          </a:prstGeom>
          <a:noFill/>
        </p:spPr>
        <p:txBody>
          <a:bodyPr wrap="square" lIns="18288" rIns="18288" tIns="10972" bIns="10972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Web page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DDE6F3"/>
                </a:solidFill>
                <a:latin typeface="Arial"/>
              </a:rPr>
              <a:t>name, email, phone, card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784080" y="2660904"/>
            <a:ext cx="0" cy="164592"/>
          </a:xfrm>
          <a:prstGeom prst="line">
            <a:avLst/>
          </a:prstGeom>
          <a:ln w="19050">
            <a:solidFill>
              <a:srgbClr val="0E8A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138160" y="2843784"/>
            <a:ext cx="3291840" cy="585216"/>
          </a:xfrm>
          <a:prstGeom prst="roundRect">
            <a:avLst>
              <a:gd name="adj" fmla="val 15625"/>
            </a:avLst>
          </a:prstGeom>
          <a:solidFill>
            <a:srgbClr val="0E8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275320" y="2871215"/>
            <a:ext cx="3108960" cy="548640"/>
          </a:xfrm>
          <a:prstGeom prst="rect">
            <a:avLst/>
          </a:prstGeom>
          <a:noFill/>
        </p:spPr>
        <p:txBody>
          <a:bodyPr wrap="square" lIns="18288" rIns="18288" tIns="10972" bIns="10972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On the device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DDE6F3"/>
                </a:solidFill>
                <a:latin typeface="Arial"/>
              </a:rPr>
              <a:t>read · detect · redact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784080" y="3447288"/>
            <a:ext cx="0" cy="164591"/>
          </a:xfrm>
          <a:prstGeom prst="line">
            <a:avLst/>
          </a:prstGeom>
          <a:ln w="19050">
            <a:solidFill>
              <a:srgbClr val="0E8A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138160" y="3630168"/>
            <a:ext cx="3291840" cy="585216"/>
          </a:xfrm>
          <a:prstGeom prst="roundRect">
            <a:avLst>
              <a:gd name="adj" fmla="val 15625"/>
            </a:avLst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275320" y="3657599"/>
            <a:ext cx="3108960" cy="548640"/>
          </a:xfrm>
          <a:prstGeom prst="rect">
            <a:avLst/>
          </a:prstGeom>
          <a:noFill/>
        </p:spPr>
        <p:txBody>
          <a:bodyPr wrap="square" lIns="18288" rIns="18288" tIns="10972" bIns="10972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Over the network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DDE6F3"/>
                </a:solidFill>
                <a:latin typeface="Courier New"/>
              </a:rPr>
              <a:t>⟦EMAIL#1⟧  ⟦PHONE#2⟧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784080" y="4233672"/>
            <a:ext cx="0" cy="164592"/>
          </a:xfrm>
          <a:prstGeom prst="line">
            <a:avLst/>
          </a:prstGeom>
          <a:ln w="19050">
            <a:solidFill>
              <a:srgbClr val="0E8A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138160" y="4416552"/>
            <a:ext cx="3291840" cy="585216"/>
          </a:xfrm>
          <a:prstGeom prst="roundRect">
            <a:avLst>
              <a:gd name="adj" fmla="val 15625"/>
            </a:avLst>
          </a:prstGeom>
          <a:solidFill>
            <a:srgbClr val="1B3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275320" y="4443984"/>
            <a:ext cx="3108960" cy="548640"/>
          </a:xfrm>
          <a:prstGeom prst="rect">
            <a:avLst/>
          </a:prstGeom>
          <a:noFill/>
        </p:spPr>
        <p:txBody>
          <a:bodyPr wrap="square" lIns="18288" rIns="18288" tIns="10972" bIns="10972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LLM planner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DDE6F3"/>
                </a:solidFill>
                <a:latin typeface="Arial"/>
              </a:rPr>
              <a:t>returns one action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525780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100" b="0" i="1">
                <a:solidFill>
                  <a:srgbClr val="C9D6EA"/>
                </a:solidFill>
                <a:latin typeface="Arial"/>
              </a:rPr>
              <a:t>Real values never leave the browser. The form still fills.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00" b="1" i="0">
                <a:solidFill>
                  <a:srgbClr val="0E8A80"/>
                </a:solidFill>
                <a:latin typeface="Arial"/>
              </a:rPr>
              <a:t>DESCRIPTION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600" b="1" i="0">
                <a:solidFill>
                  <a:srgbClr val="0F2240"/>
                </a:solidFill>
                <a:latin typeface="Arial"/>
              </a:rPr>
              <a:t>What GLASSWALL is, and why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DCE1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00" b="1" i="0">
                <a:solidFill>
                  <a:srgbClr val="0F2240"/>
                </a:solidFill>
                <a:latin typeface="Arial"/>
              </a:rPr>
              <a:t>GLASSWALL</a:t>
            </a:r>
            <a:r>
              <a:rPr sz="1000" b="0" i="0">
                <a:solidFill>
                  <a:srgbClr val="8A93A2"/>
                </a:solidFill>
                <a:latin typeface="Arial"/>
              </a:rPr>
              <a:t>   Privacy-preserving browser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1000" b="0" i="0">
                <a:solidFill>
                  <a:srgbClr val="8A93A2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57607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500" b="0" i="0">
                <a:solidFill>
                  <a:srgbClr val="1B1F27"/>
                </a:solidFill>
                <a:latin typeface="Arial"/>
              </a:rPr>
              <a:t>A Chrome extension plus a small server that let an AI model operate a web page for the user, without the model ever receiving the personal data on that page.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697479"/>
            <a:ext cx="365760" cy="365760"/>
          </a:xfrm>
          <a:prstGeom prst="ellipse">
            <a:avLst/>
          </a:prstGeom>
          <a:solidFill>
            <a:srgbClr val="0E8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651760"/>
            <a:ext cx="523036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50" b="1" i="0">
                <a:solidFill>
                  <a:srgbClr val="0F2240"/>
                </a:solidFill>
                <a:latin typeface="Arial"/>
              </a:rPr>
              <a:t>Reads the page on the device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0" i="0">
                <a:solidFill>
                  <a:srgbClr val="555E6C"/>
                </a:solidFill>
                <a:latin typeface="Arial"/>
              </a:rPr>
              <a:t>structure, text and pixels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703320"/>
            <a:ext cx="365760" cy="365760"/>
          </a:xfrm>
          <a:prstGeom prst="ellipse">
            <a:avLst/>
          </a:prstGeom>
          <a:solidFill>
            <a:srgbClr val="0E8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3657600"/>
            <a:ext cx="523036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50" b="1" i="0">
                <a:solidFill>
                  <a:srgbClr val="0F2240"/>
                </a:solidFill>
                <a:latin typeface="Arial"/>
              </a:rPr>
              <a:t>Replaces personal values with handles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0" i="0">
                <a:solidFill>
                  <a:srgbClr val="555E6C"/>
                </a:solidFill>
                <a:latin typeface="Arial"/>
              </a:rPr>
              <a:t>an email becomes ⟦EMAIL#1⟧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709159"/>
            <a:ext cx="365760" cy="365760"/>
          </a:xfrm>
          <a:prstGeom prst="ellipse">
            <a:avLst/>
          </a:prstGeom>
          <a:solidFill>
            <a:srgbClr val="0E8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4663440"/>
            <a:ext cx="523036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450" b="1" i="0">
                <a:solidFill>
                  <a:srgbClr val="0F2240"/>
                </a:solidFill>
                <a:latin typeface="Arial"/>
              </a:rPr>
              <a:t>The AI plans, the device acts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50" b="0" i="0">
                <a:solidFill>
                  <a:srgbClr val="555E6C"/>
                </a:solidFill>
                <a:latin typeface="Arial"/>
              </a:rPr>
              <a:t>the real value is filled in locally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1353312"/>
            <a:ext cx="496793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00" b="1" i="0">
                <a:solidFill>
                  <a:srgbClr val="C0392B"/>
                </a:solidFill>
                <a:latin typeface="Arial"/>
              </a:rPr>
              <a:t>THE PROBLEM TODAY</a:t>
            </a:r>
          </a:p>
        </p:txBody>
      </p:sp>
      <p:pic>
        <p:nvPicPr>
          <p:cNvPr id="15" name="Picture 14" descr="clinic-before-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700784"/>
            <a:ext cx="4967935" cy="1358420"/>
          </a:xfrm>
          <a:prstGeom prst="rect">
            <a:avLst/>
          </a:prstGeom>
          <a:ln w="9525">
            <a:solidFill>
              <a:srgbClr val="DCE1E9"/>
            </a:solidFill>
          </a:ln>
        </p:spPr>
      </p:pic>
      <p:sp>
        <p:nvSpPr>
          <p:cNvPr id="16" name="Rounded Rectangle 15"/>
          <p:cNvSpPr/>
          <p:nvPr/>
        </p:nvSpPr>
        <p:spPr>
          <a:xfrm>
            <a:off x="6675120" y="3232939"/>
            <a:ext cx="4967935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DC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6675120" y="3232939"/>
            <a:ext cx="64008" cy="566928"/>
          </a:xfrm>
          <a:prstGeom prst="roundRect">
            <a:avLst>
              <a:gd name="adj" fmla="val 28571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903720" y="3232939"/>
            <a:ext cx="464789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 b="0" i="0">
                <a:solidFill>
                  <a:srgbClr val="1B1F27"/>
                </a:solidFill>
                <a:latin typeface="Arial"/>
              </a:rPr>
              <a:t>Browser agents upload the whole screen to a cloud model.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75120" y="3891307"/>
            <a:ext cx="4967935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DC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6675120" y="3891307"/>
            <a:ext cx="64008" cy="566928"/>
          </a:xfrm>
          <a:prstGeom prst="roundRect">
            <a:avLst>
              <a:gd name="adj" fmla="val 28571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903720" y="3891307"/>
            <a:ext cx="464789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 b="0" i="0">
                <a:solidFill>
                  <a:srgbClr val="1B1F27"/>
                </a:solidFill>
                <a:latin typeface="Arial"/>
              </a:rPr>
              <a:t>Anything the detector misses is sent as-is.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75120" y="4549675"/>
            <a:ext cx="4967935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DC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6675120" y="4549675"/>
            <a:ext cx="64008" cy="566928"/>
          </a:xfrm>
          <a:prstGeom prst="roundRect">
            <a:avLst>
              <a:gd name="adj" fmla="val 28571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903720" y="4549675"/>
            <a:ext cx="4647895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 b="0" i="0">
                <a:solidFill>
                  <a:srgbClr val="1B1F27"/>
                </a:solidFill>
                <a:latin typeface="Arial"/>
              </a:rPr>
              <a:t>Hiding a value from the AI means it cannot fill the form.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00" b="1" i="0">
                <a:solidFill>
                  <a:srgbClr val="0E8A80"/>
                </a:solidFill>
                <a:latin typeface="Arial"/>
              </a:rPr>
              <a:t>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600" b="1" i="0">
                <a:solidFill>
                  <a:srgbClr val="0F2240"/>
                </a:solidFill>
                <a:latin typeface="Arial"/>
              </a:rPr>
              <a:t>One step of the agent loop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DCE1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00" b="1" i="0">
                <a:solidFill>
                  <a:srgbClr val="0F2240"/>
                </a:solidFill>
                <a:latin typeface="Arial"/>
              </a:rPr>
              <a:t>GLASSWALL</a:t>
            </a:r>
            <a:r>
              <a:rPr sz="1000" b="0" i="0">
                <a:solidFill>
                  <a:srgbClr val="8A93A2"/>
                </a:solidFill>
                <a:latin typeface="Arial"/>
              </a:rPr>
              <a:t>   Privacy-preserving browser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1000" b="0" i="0">
                <a:solidFill>
                  <a:srgbClr val="8A93A2"/>
                </a:solidFill>
                <a:latin typeface="Arial"/>
              </a:rPr>
              <a:t>3</a:t>
            </a:r>
          </a:p>
        </p:txBody>
      </p:sp>
      <p:sp>
        <p:nvSpPr>
          <p:cNvPr id="7" name="Pentagon 6"/>
          <p:cNvSpPr/>
          <p:nvPr/>
        </p:nvSpPr>
        <p:spPr>
          <a:xfrm>
            <a:off x="548640" y="1463040"/>
            <a:ext cx="2131100" cy="502920"/>
          </a:xfrm>
          <a:prstGeom prst="homePlate">
            <a:avLst>
              <a:gd name="adj" fmla="val 30000"/>
            </a:avLst>
          </a:prstGeom>
          <a:solidFill>
            <a:srgbClr val="0E8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0" bIns="0"/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1  SEE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29967"/>
            <a:ext cx="2131100" cy="274320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00" b="1" i="0">
                <a:solidFill>
                  <a:srgbClr val="0E8A80"/>
                </a:solidFill>
                <a:latin typeface="Arial"/>
              </a:rPr>
              <a:t>on device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04288"/>
            <a:ext cx="21311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C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6809" bIns="76809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555E6C"/>
                </a:solidFill>
                <a:latin typeface="Arial"/>
              </a:rPr>
              <a:t>Read the page. Run OCR and name detection locally.</a:t>
            </a:r>
          </a:p>
        </p:txBody>
      </p:sp>
      <p:sp>
        <p:nvSpPr>
          <p:cNvPr id="10" name="Chevron 9"/>
          <p:cNvSpPr/>
          <p:nvPr/>
        </p:nvSpPr>
        <p:spPr>
          <a:xfrm>
            <a:off x="2789468" y="1463040"/>
            <a:ext cx="2131100" cy="502920"/>
          </a:xfrm>
          <a:prstGeom prst="chevron">
            <a:avLst>
              <a:gd name="adj" fmla="val 30000"/>
            </a:avLst>
          </a:prstGeom>
          <a:solidFill>
            <a:srgbClr val="0E8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37744" tIns="0" bIns="0"/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2  SANITIZE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9468" y="2029967"/>
            <a:ext cx="2131100" cy="274320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00" b="1" i="0">
                <a:solidFill>
                  <a:srgbClr val="0E8A80"/>
                </a:solidFill>
                <a:latin typeface="Arial"/>
              </a:rPr>
              <a:t>on device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9468" y="2304288"/>
            <a:ext cx="21311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C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6809" bIns="76809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555E6C"/>
                </a:solidFill>
                <a:latin typeface="Arial"/>
              </a:rPr>
              <a:t>Personal values become handles like ⟦EMAIL#1⟧. Sensitive pixels are blacked out.</a:t>
            </a:r>
          </a:p>
        </p:txBody>
      </p:sp>
      <p:sp>
        <p:nvSpPr>
          <p:cNvPr id="13" name="Chevron 12"/>
          <p:cNvSpPr/>
          <p:nvPr/>
        </p:nvSpPr>
        <p:spPr>
          <a:xfrm>
            <a:off x="5030297" y="1463040"/>
            <a:ext cx="2131100" cy="502920"/>
          </a:xfrm>
          <a:prstGeom prst="chevron">
            <a:avLst>
              <a:gd name="adj" fmla="val 30000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37744" tIns="0" bIns="0"/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3  GATE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30297" y="2029967"/>
            <a:ext cx="2131100" cy="274320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00" b="1" i="0">
                <a:solidFill>
                  <a:srgbClr val="C0392B"/>
                </a:solidFill>
                <a:latin typeface="Arial"/>
              </a:rPr>
              <a:t>on device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30297" y="2304288"/>
            <a:ext cx="21311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C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6809" bIns="76809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555E6C"/>
                </a:solidFill>
                <a:latin typeface="Arial"/>
              </a:rPr>
              <a:t>One exit for all traffic. Anything that still looks personal is blocked.</a:t>
            </a:r>
          </a:p>
        </p:txBody>
      </p:sp>
      <p:sp>
        <p:nvSpPr>
          <p:cNvPr id="16" name="Chevron 15"/>
          <p:cNvSpPr/>
          <p:nvPr/>
        </p:nvSpPr>
        <p:spPr>
          <a:xfrm>
            <a:off x="7271125" y="1463040"/>
            <a:ext cx="2131100" cy="502920"/>
          </a:xfrm>
          <a:prstGeom prst="chevron">
            <a:avLst>
              <a:gd name="adj" fmla="val 30000"/>
            </a:avLst>
          </a:prstGeom>
          <a:solidFill>
            <a:srgbClr val="0F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37744" tIns="0" bIns="0"/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4  REASON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71125" y="2029967"/>
            <a:ext cx="2131100" cy="274320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00" b="1" i="0">
                <a:solidFill>
                  <a:srgbClr val="0F2240"/>
                </a:solidFill>
                <a:latin typeface="Arial"/>
              </a:rPr>
              <a:t>server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71125" y="2304288"/>
            <a:ext cx="21311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C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6809" bIns="76809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555E6C"/>
                </a:solidFill>
                <a:latin typeface="Arial"/>
              </a:rPr>
              <a:t>An LLM reads the handle-only page and returns one action.</a:t>
            </a:r>
          </a:p>
        </p:txBody>
      </p:sp>
      <p:sp>
        <p:nvSpPr>
          <p:cNvPr id="19" name="Chevron 18"/>
          <p:cNvSpPr/>
          <p:nvPr/>
        </p:nvSpPr>
        <p:spPr>
          <a:xfrm>
            <a:off x="9511954" y="1463040"/>
            <a:ext cx="2131100" cy="502920"/>
          </a:xfrm>
          <a:prstGeom prst="chevron">
            <a:avLst>
              <a:gd name="adj" fmla="val 30000"/>
            </a:avLst>
          </a:prstGeom>
          <a:solidFill>
            <a:srgbClr val="0E8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37744" tIns="0" bIns="0"/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5  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11954" y="2029967"/>
            <a:ext cx="2131100" cy="274320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00" b="1" i="0">
                <a:solidFill>
                  <a:srgbClr val="0E8A80"/>
                </a:solidFill>
                <a:latin typeface="Arial"/>
              </a:rPr>
              <a:t>on device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511954" y="2304288"/>
            <a:ext cx="21311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DC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76809" bIns="76809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555E6C"/>
                </a:solidFill>
                <a:latin typeface="Arial"/>
              </a:rPr>
              <a:t>Check the action, resolve handles from the local vault, execute.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548640" y="3931920"/>
            <a:ext cx="11094415" cy="0"/>
          </a:xfrm>
          <a:prstGeom prst="line">
            <a:avLst/>
          </a:prstGeom>
          <a:ln w="22225">
            <a:solidFill>
              <a:srgbClr val="1B35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3840480" y="3767328"/>
            <a:ext cx="4480560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43891" bIns="43891"/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200" b="1" i="0">
                <a:solidFill>
                  <a:srgbClr val="0F2240"/>
                </a:solidFill>
                <a:latin typeface="Arial"/>
              </a:rPr>
              <a:t>one action comes back, then runs on the device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480560"/>
            <a:ext cx="5410047" cy="1280160"/>
          </a:xfrm>
          <a:prstGeom prst="roundRect">
            <a:avLst>
              <a:gd name="adj" fmla="val 5714"/>
            </a:avLst>
          </a:prstGeom>
          <a:solidFill>
            <a:srgbClr val="E4F3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0700" bIns="120700"/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1" i="0">
                <a:solidFill>
                  <a:srgbClr val="0E8A80"/>
                </a:solidFill>
                <a:latin typeface="Arial"/>
              </a:rPr>
              <a:t>LEAVES THE DEVICE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 i="0">
                <a:solidFill>
                  <a:srgbClr val="1B1F27"/>
                </a:solidFill>
                <a:latin typeface="Arial"/>
              </a:rPr>
              <a:t>Page structure, labels and handles.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 i="0">
                <a:solidFill>
                  <a:srgbClr val="555E6C"/>
                </a:solidFill>
                <a:latin typeface="Arial"/>
              </a:rPr>
              <a:t>Under BALANCED policy, a screenshot redacted on the device.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3007" y="4480560"/>
            <a:ext cx="5410047" cy="1280160"/>
          </a:xfrm>
          <a:prstGeom prst="roundRect">
            <a:avLst>
              <a:gd name="adj" fmla="val 5714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0700" bIns="120700"/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1" i="0">
                <a:solidFill>
                  <a:srgbClr val="C0392B"/>
                </a:solidFill>
                <a:latin typeface="Arial"/>
              </a:rPr>
              <a:t>NEVER LEAVES THE DEVICE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 i="0">
                <a:solidFill>
                  <a:srgbClr val="1B1F27"/>
                </a:solidFill>
                <a:latin typeface="Arial"/>
              </a:rPr>
              <a:t>Real values, raw screenshots, cookies, storage.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50" b="0" i="0">
                <a:solidFill>
                  <a:srgbClr val="555E6C"/>
                </a:solidFill>
                <a:latin typeface="Arial"/>
              </a:rPr>
              <a:t>Under STRICT policy, no screenshot is even taken.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00" b="1" i="0">
                <a:solidFill>
                  <a:srgbClr val="0E8A80"/>
                </a:solidFill>
                <a:latin typeface="Arial"/>
              </a:rPr>
              <a:t>FEASIBILITY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600" b="1" i="0">
                <a:solidFill>
                  <a:srgbClr val="0F2240"/>
                </a:solidFill>
                <a:latin typeface="Arial"/>
              </a:rPr>
              <a:t>Already built and running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DCE1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00" b="1" i="0">
                <a:solidFill>
                  <a:srgbClr val="0F2240"/>
                </a:solidFill>
                <a:latin typeface="Arial"/>
              </a:rPr>
              <a:t>GLASSWALL</a:t>
            </a:r>
            <a:r>
              <a:rPr sz="1000" b="0" i="0">
                <a:solidFill>
                  <a:srgbClr val="8A93A2"/>
                </a:solidFill>
                <a:latin typeface="Arial"/>
              </a:rPr>
              <a:t>   Privacy-preserving browser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1000" b="0" i="0">
                <a:solidFill>
                  <a:srgbClr val="8A93A2"/>
                </a:solidFill>
                <a:latin typeface="Arial"/>
              </a:rPr>
              <a:t>4</a:t>
            </a:r>
          </a:p>
        </p:txBody>
      </p:sp>
      <p:pic>
        <p:nvPicPr>
          <p:cNvPr id="7" name="Picture 6" descr="overlay-check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5394960" cy="3960130"/>
          </a:xfrm>
          <a:prstGeom prst="rect">
            <a:avLst/>
          </a:prstGeom>
          <a:ln w="9525">
            <a:solidFill>
              <a:srgbClr val="DCE1E9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48640" y="5441458"/>
            <a:ext cx="5394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1" i="0">
                <a:solidFill>
                  <a:srgbClr val="0F2240"/>
                </a:solidFill>
                <a:latin typeface="Arial"/>
              </a:rPr>
              <a:t>A real run on a checkout page. </a:t>
            </a:r>
            <a:r>
              <a:rPr sz="1200" b="0" i="0">
                <a:solidFill>
                  <a:srgbClr val="555E6C"/>
                </a:solidFill>
                <a:latin typeface="Arial"/>
              </a:rPr>
              <a:t>Blue: elements the AI may act on. Red: values removed on the device.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371600"/>
            <a:ext cx="5333695" cy="1099566"/>
          </a:xfrm>
          <a:prstGeom prst="roundRect">
            <a:avLst>
              <a:gd name="adj" fmla="val 6652"/>
            </a:avLst>
          </a:prstGeom>
          <a:solidFill>
            <a:srgbClr val="FFFFFF"/>
          </a:solidFill>
          <a:ln w="9525">
            <a:solidFill>
              <a:srgbClr val="DC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6309360" y="1371600"/>
            <a:ext cx="5333695" cy="54864"/>
          </a:xfrm>
          <a:prstGeom prst="roundRect">
            <a:avLst>
              <a:gd name="adj" fmla="val 33333"/>
            </a:avLst>
          </a:prstGeom>
          <a:solidFill>
            <a:srgbClr val="0E8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6455664" y="1554480"/>
            <a:ext cx="310896" cy="310896"/>
          </a:xfrm>
          <a:prstGeom prst="ellipse">
            <a:avLst/>
          </a:prstGeom>
          <a:solidFill>
            <a:srgbClr val="0E8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76288" y="1499616"/>
            <a:ext cx="4657039" cy="916686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1" i="0">
                <a:solidFill>
                  <a:srgbClr val="0F2240"/>
                </a:solidFill>
                <a:latin typeface="Arial"/>
              </a:rPr>
              <a:t>Working prototype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555E6C"/>
                </a:solidFill>
                <a:latin typeface="Arial"/>
              </a:rPr>
              <a:t>Chrome extension, gateway server and three test websites.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2635758"/>
            <a:ext cx="5333695" cy="1099566"/>
          </a:xfrm>
          <a:prstGeom prst="roundRect">
            <a:avLst>
              <a:gd name="adj" fmla="val 6652"/>
            </a:avLst>
          </a:prstGeom>
          <a:solidFill>
            <a:srgbClr val="FFFFFF"/>
          </a:solidFill>
          <a:ln w="9525">
            <a:solidFill>
              <a:srgbClr val="DC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6309360" y="2635758"/>
            <a:ext cx="5333695" cy="54864"/>
          </a:xfrm>
          <a:prstGeom prst="roundRect">
            <a:avLst>
              <a:gd name="adj" fmla="val 33333"/>
            </a:avLst>
          </a:prstGeom>
          <a:solidFill>
            <a:srgbClr val="0E8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6455664" y="2818638"/>
            <a:ext cx="310896" cy="310896"/>
          </a:xfrm>
          <a:prstGeom prst="ellipse">
            <a:avLst/>
          </a:prstGeom>
          <a:solidFill>
            <a:srgbClr val="0E8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76288" y="2763774"/>
            <a:ext cx="4657039" cy="916686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1" i="0">
                <a:solidFill>
                  <a:srgbClr val="0F2240"/>
                </a:solidFill>
                <a:latin typeface="Arial"/>
              </a:rPr>
              <a:t>Runs on an ordinary laptop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555E6C"/>
                </a:solidFill>
                <a:latin typeface="Arial"/>
              </a:rPr>
              <a:t>Models ship inside the extension. About 1 to 2 s of local work per step.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3899915"/>
            <a:ext cx="5333695" cy="1099566"/>
          </a:xfrm>
          <a:prstGeom prst="roundRect">
            <a:avLst>
              <a:gd name="adj" fmla="val 6652"/>
            </a:avLst>
          </a:prstGeom>
          <a:solidFill>
            <a:srgbClr val="FFFFFF"/>
          </a:solidFill>
          <a:ln w="9525">
            <a:solidFill>
              <a:srgbClr val="DC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6309360" y="3899915"/>
            <a:ext cx="5333695" cy="54864"/>
          </a:xfrm>
          <a:prstGeom prst="roundRect">
            <a:avLst>
              <a:gd name="adj" fmla="val 33333"/>
            </a:avLst>
          </a:prstGeom>
          <a:solidFill>
            <a:srgbClr val="0F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6455664" y="4082796"/>
            <a:ext cx="310896" cy="310896"/>
          </a:xfrm>
          <a:prstGeom prst="ellipse">
            <a:avLst/>
          </a:prstGeom>
          <a:solidFill>
            <a:srgbClr val="0F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76288" y="4027931"/>
            <a:ext cx="4657039" cy="916686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1" i="0">
                <a:solidFill>
                  <a:srgbClr val="0F2240"/>
                </a:solidFill>
                <a:latin typeface="Arial"/>
              </a:rPr>
              <a:t>Any LLM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555E6C"/>
                </a:solidFill>
                <a:latin typeface="Arial"/>
              </a:rPr>
              <a:t>Works with a local model (Ollama) or any hosted API. A scripted fallback always answers.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5164073"/>
            <a:ext cx="5333695" cy="1099566"/>
          </a:xfrm>
          <a:prstGeom prst="roundRect">
            <a:avLst>
              <a:gd name="adj" fmla="val 6652"/>
            </a:avLst>
          </a:prstGeom>
          <a:solidFill>
            <a:srgbClr val="FFFFFF"/>
          </a:solidFill>
          <a:ln w="9525">
            <a:solidFill>
              <a:srgbClr val="DC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6309360" y="5164073"/>
            <a:ext cx="5333695" cy="54864"/>
          </a:xfrm>
          <a:prstGeom prst="roundRect">
            <a:avLst>
              <a:gd name="adj" fmla="val 33333"/>
            </a:avLst>
          </a:prstGeom>
          <a:solidFill>
            <a:srgbClr val="0F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6455664" y="5346953"/>
            <a:ext cx="310896" cy="310896"/>
          </a:xfrm>
          <a:prstGeom prst="ellipse">
            <a:avLst/>
          </a:prstGeom>
          <a:solidFill>
            <a:srgbClr val="0F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76288" y="5292089"/>
            <a:ext cx="4657039" cy="916686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400" b="1" i="0">
                <a:solidFill>
                  <a:srgbClr val="0F2240"/>
                </a:solidFill>
                <a:latin typeface="Arial"/>
              </a:rPr>
              <a:t>Tested end to end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50" b="0" i="0">
                <a:solidFill>
                  <a:srgbClr val="555E6C"/>
                </a:solidFill>
                <a:latin typeface="Arial"/>
              </a:rPr>
              <a:t>503 unit tests, automated browser runs, and a leak test that can fail.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00" b="1" i="0">
                <a:solidFill>
                  <a:srgbClr val="0E8A80"/>
                </a:solidFill>
                <a:latin typeface="Arial"/>
              </a:rPr>
              <a:t>TECHNICAL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600" b="1" i="0">
                <a:solidFill>
                  <a:srgbClr val="0F2240"/>
                </a:solidFill>
                <a:latin typeface="Arial"/>
              </a:rPr>
              <a:t>Architecture and stack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DCE1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00" b="1" i="0">
                <a:solidFill>
                  <a:srgbClr val="0F2240"/>
                </a:solidFill>
                <a:latin typeface="Arial"/>
              </a:rPr>
              <a:t>GLASSWALL</a:t>
            </a:r>
            <a:r>
              <a:rPr sz="1000" b="0" i="0">
                <a:solidFill>
                  <a:srgbClr val="8A93A2"/>
                </a:solidFill>
                <a:latin typeface="Arial"/>
              </a:rPr>
              <a:t>   Privacy-preserving browser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1000" b="0" i="0">
                <a:solidFill>
                  <a:srgbClr val="8A93A2"/>
                </a:solidFill>
                <a:latin typeface="Arial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2377440" cy="3246120"/>
          </a:xfrm>
          <a:prstGeom prst="roundRect">
            <a:avLst>
              <a:gd name="adj" fmla="val 3076"/>
            </a:avLst>
          </a:prstGeom>
          <a:solidFill>
            <a:srgbClr val="F3F5F8"/>
          </a:solidFill>
          <a:ln w="9525">
            <a:solidFill>
              <a:srgbClr val="DC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48640" y="1444752"/>
            <a:ext cx="2377440" cy="274320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200" b="1" i="0">
                <a:solidFill>
                  <a:srgbClr val="0F2240"/>
                </a:solidFill>
                <a:latin typeface="Arial"/>
              </a:rPr>
              <a:t>CHROME TAB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828800"/>
            <a:ext cx="2157984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C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658368" y="1828800"/>
            <a:ext cx="2157984" cy="54864"/>
          </a:xfrm>
          <a:prstGeom prst="roundRect">
            <a:avLst>
              <a:gd name="adj" fmla="val 33333"/>
            </a:avLst>
          </a:prstGeom>
          <a:solidFill>
            <a:srgbClr val="0E8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04672" y="1956816"/>
            <a:ext cx="1901952" cy="1097280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 i="0">
                <a:solidFill>
                  <a:srgbClr val="0F2240"/>
                </a:solidFill>
                <a:latin typeface="Arial"/>
              </a:rPr>
              <a:t>Content script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 i="0">
                <a:solidFill>
                  <a:srgbClr val="555E6C"/>
                </a:solidFill>
                <a:latin typeface="Arial"/>
              </a:rPr>
              <a:t>reads the page, performs the action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200400"/>
            <a:ext cx="2157984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C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58368" y="3200400"/>
            <a:ext cx="2157984" cy="54864"/>
          </a:xfrm>
          <a:prstGeom prst="roundRect">
            <a:avLst>
              <a:gd name="adj" fmla="val 33333"/>
            </a:avLst>
          </a:prstGeom>
          <a:solidFill>
            <a:srgbClr val="0F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04672" y="3328416"/>
            <a:ext cx="1901952" cy="1097280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 i="0">
                <a:solidFill>
                  <a:srgbClr val="0F2240"/>
                </a:solidFill>
                <a:latin typeface="Arial"/>
              </a:rPr>
              <a:t>Side panel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 i="0">
                <a:solidFill>
                  <a:srgbClr val="555E6C"/>
                </a:solidFill>
                <a:latin typeface="Arial"/>
              </a:rPr>
              <a:t>task, policy, trace, confirmation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0" y="1371600"/>
            <a:ext cx="4114800" cy="3246120"/>
          </a:xfrm>
          <a:prstGeom prst="roundRect">
            <a:avLst>
              <a:gd name="adj" fmla="val 2253"/>
            </a:avLst>
          </a:prstGeom>
          <a:solidFill>
            <a:srgbClr val="E4F3F1"/>
          </a:solidFill>
          <a:ln w="9525">
            <a:solidFill>
              <a:srgbClr val="DC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200400" y="1444752"/>
            <a:ext cx="4114800" cy="274320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200" b="1" i="0">
                <a:solidFill>
                  <a:srgbClr val="0E8A80"/>
                </a:solidFill>
                <a:latin typeface="Arial"/>
              </a:rPr>
              <a:t>EXTENSION  ·  runs on the device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10128" y="1828800"/>
            <a:ext cx="3895344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3310128" y="1828800"/>
            <a:ext cx="3895344" cy="54864"/>
          </a:xfrm>
          <a:prstGeom prst="roundRect">
            <a:avLst>
              <a:gd name="adj" fmla="val 33333"/>
            </a:avLst>
          </a:prstGeom>
          <a:solidFill>
            <a:srgbClr val="0E8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3456432" y="1956816"/>
            <a:ext cx="3639311" cy="731520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 i="0">
                <a:solidFill>
                  <a:srgbClr val="0F2240"/>
                </a:solidFill>
                <a:latin typeface="Arial"/>
              </a:rPr>
              <a:t>Orchestrator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 i="0">
                <a:solidFill>
                  <a:srgbClr val="555E6C"/>
                </a:solidFill>
                <a:latin typeface="Arial"/>
              </a:rPr>
              <a:t>runs the loop, validates every action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10128" y="2834640"/>
            <a:ext cx="1892807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DC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3310128" y="2834640"/>
            <a:ext cx="1892807" cy="54864"/>
          </a:xfrm>
          <a:prstGeom prst="roundRect">
            <a:avLst>
              <a:gd name="adj" fmla="val 33333"/>
            </a:avLst>
          </a:prstGeom>
          <a:solidFill>
            <a:srgbClr val="0E8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3456432" y="2962656"/>
            <a:ext cx="1636775" cy="960120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 i="0">
                <a:solidFill>
                  <a:srgbClr val="0F2240"/>
                </a:solidFill>
                <a:latin typeface="Arial"/>
              </a:rPr>
              <a:t>Local models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 i="0">
                <a:solidFill>
                  <a:srgbClr val="555E6C"/>
                </a:solidFill>
                <a:latin typeface="Arial"/>
              </a:rPr>
              <a:t>NER and OCR in WebAssembly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12664" y="2834640"/>
            <a:ext cx="1892807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DC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/>
          <p:cNvSpPr/>
          <p:nvPr/>
        </p:nvSpPr>
        <p:spPr>
          <a:xfrm>
            <a:off x="5312664" y="2834640"/>
            <a:ext cx="1892807" cy="54864"/>
          </a:xfrm>
          <a:prstGeom prst="roundRect">
            <a:avLst>
              <a:gd name="adj" fmla="val 33333"/>
            </a:avLst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5458968" y="2962656"/>
            <a:ext cx="1636775" cy="960120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 i="0">
                <a:solidFill>
                  <a:srgbClr val="0F2240"/>
                </a:solidFill>
                <a:latin typeface="Arial"/>
              </a:rPr>
              <a:t>Privacy library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 i="0">
                <a:solidFill>
                  <a:srgbClr val="555E6C"/>
                </a:solidFill>
                <a:latin typeface="Arial"/>
              </a:rPr>
              <a:t>detect, redact, vault, gate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10128" y="4069080"/>
            <a:ext cx="3895344" cy="411480"/>
          </a:xfrm>
          <a:prstGeom prst="roundRect">
            <a:avLst>
              <a:gd name="adj" fmla="val 8888"/>
            </a:avLst>
          </a:prstGeom>
          <a:solidFill>
            <a:srgbClr val="FFFFFF"/>
          </a:solidFill>
          <a:ln w="952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150" b="1" i="0">
                <a:solidFill>
                  <a:srgbClr val="C0392B"/>
                </a:solidFill>
                <a:latin typeface="Arial"/>
              </a:rPr>
              <a:t>one network call, checked payloads only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89520" y="1371600"/>
            <a:ext cx="384048" cy="3246120"/>
          </a:xfrm>
          <a:prstGeom prst="roundRect">
            <a:avLst>
              <a:gd name="adj" fmla="val 4761"/>
            </a:avLst>
          </a:prstGeom>
          <a:solidFill>
            <a:srgbClr val="FBECEA"/>
          </a:solidFill>
          <a:ln w="19050">
            <a:prstDash val="dash"/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 rot="16200000">
            <a:off x="6158484" y="2848356"/>
            <a:ext cx="32461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150" b="1" i="0">
                <a:solidFill>
                  <a:srgbClr val="C0392B"/>
                </a:solidFill>
                <a:latin typeface="Arial"/>
              </a:rPr>
              <a:t>TRUST BOUNDARY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47888" y="1371600"/>
            <a:ext cx="3395167" cy="3246120"/>
          </a:xfrm>
          <a:prstGeom prst="roundRect">
            <a:avLst>
              <a:gd name="adj" fmla="val 2253"/>
            </a:avLst>
          </a:prstGeom>
          <a:solidFill>
            <a:srgbClr val="E9EEF6"/>
          </a:solidFill>
          <a:ln w="9525">
            <a:solidFill>
              <a:srgbClr val="DC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247888" y="1444752"/>
            <a:ext cx="3395167" cy="274320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200" b="1" i="0">
                <a:solidFill>
                  <a:srgbClr val="0F2240"/>
                </a:solidFill>
                <a:latin typeface="Arial"/>
              </a:rPr>
              <a:t>GATEWAY  ·  server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57616" y="1828800"/>
            <a:ext cx="3175711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C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ounded Rectangle 31"/>
          <p:cNvSpPr/>
          <p:nvPr/>
        </p:nvSpPr>
        <p:spPr>
          <a:xfrm>
            <a:off x="8357616" y="1828800"/>
            <a:ext cx="3175711" cy="54864"/>
          </a:xfrm>
          <a:prstGeom prst="roundRect">
            <a:avLst>
              <a:gd name="adj" fmla="val 33333"/>
            </a:avLst>
          </a:prstGeom>
          <a:solidFill>
            <a:srgbClr val="0F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8503920" y="1956816"/>
            <a:ext cx="2919679" cy="1097280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 i="0">
                <a:solidFill>
                  <a:srgbClr val="0F2240"/>
                </a:solidFill>
                <a:latin typeface="Arial"/>
              </a:rPr>
              <a:t>Node + Fastify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 i="0">
                <a:solidFill>
                  <a:srgbClr val="555E6C"/>
                </a:solidFill>
                <a:latin typeface="Arial"/>
              </a:rPr>
              <a:t>builds the prompt, checks the model's action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357616" y="3200400"/>
            <a:ext cx="3175711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C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ounded Rectangle 34"/>
          <p:cNvSpPr/>
          <p:nvPr/>
        </p:nvSpPr>
        <p:spPr>
          <a:xfrm>
            <a:off x="8357616" y="3200400"/>
            <a:ext cx="3175711" cy="54864"/>
          </a:xfrm>
          <a:prstGeom prst="roundRect">
            <a:avLst>
              <a:gd name="adj" fmla="val 33333"/>
            </a:avLst>
          </a:prstGeom>
          <a:solidFill>
            <a:srgbClr val="0F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8503920" y="3328416"/>
            <a:ext cx="2919679" cy="1097280"/>
          </a:xfrm>
          <a:prstGeom prst="rect">
            <a:avLst/>
          </a:prstGeom>
          <a:noFill/>
        </p:spPr>
        <p:txBody>
          <a:bodyPr wrap="square" lIns="18288" rIns="18288" tIns="10972" bIns="10972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 i="0">
                <a:solidFill>
                  <a:srgbClr val="0F2240"/>
                </a:solidFill>
                <a:latin typeface="Arial"/>
              </a:rPr>
              <a:t>LLM providers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 i="0">
                <a:solidFill>
                  <a:srgbClr val="555E6C"/>
                </a:solidFill>
                <a:latin typeface="Arial"/>
              </a:rPr>
              <a:t>Ollama, Groq, OpenRouter, Anthropic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2953512" y="2286000"/>
            <a:ext cx="219456" cy="0"/>
          </a:xfrm>
          <a:prstGeom prst="line">
            <a:avLst/>
          </a:prstGeom>
          <a:ln w="19050">
            <a:solidFill>
              <a:srgbClr val="1B35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342631" y="2286000"/>
            <a:ext cx="219457" cy="0"/>
          </a:xfrm>
          <a:prstGeom prst="line">
            <a:avLst/>
          </a:prstGeom>
          <a:ln w="19050">
            <a:solidFill>
              <a:srgbClr val="1B35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8001000" y="2286000"/>
            <a:ext cx="219456" cy="0"/>
          </a:xfrm>
          <a:prstGeom prst="line">
            <a:avLst/>
          </a:prstGeom>
          <a:ln w="19050">
            <a:solidFill>
              <a:srgbClr val="1B35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548640" y="484632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00" b="1" i="0">
                <a:solidFill>
                  <a:srgbClr val="0E8A80"/>
                </a:solidFill>
                <a:latin typeface="Arial"/>
              </a:rPr>
              <a:t>STACK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48640" y="5157216"/>
            <a:ext cx="2636443" cy="1106423"/>
          </a:xfrm>
          <a:prstGeom prst="roundRect">
            <a:avLst>
              <a:gd name="adj" fmla="val 6611"/>
            </a:avLst>
          </a:prstGeom>
          <a:solidFill>
            <a:srgbClr val="FFFFFF"/>
          </a:solidFill>
          <a:ln w="9525">
            <a:solidFill>
              <a:srgbClr val="DC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7782" bIns="87782"/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 b="1" i="0">
                <a:solidFill>
                  <a:srgbClr val="0F2240"/>
                </a:solidFill>
                <a:latin typeface="Arial"/>
              </a:rPr>
              <a:t>Client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50" b="0" i="0">
                <a:solidFill>
                  <a:srgbClr val="555E6C"/>
                </a:solidFill>
                <a:latin typeface="Arial"/>
              </a:rPr>
              <a:t>TypeScript · Chrome MV3 · React · Zod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367963" y="5157216"/>
            <a:ext cx="2636443" cy="1106423"/>
          </a:xfrm>
          <a:prstGeom prst="roundRect">
            <a:avLst>
              <a:gd name="adj" fmla="val 6611"/>
            </a:avLst>
          </a:prstGeom>
          <a:solidFill>
            <a:srgbClr val="FFFFFF"/>
          </a:solidFill>
          <a:ln w="9525">
            <a:solidFill>
              <a:srgbClr val="DC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7782" bIns="87782"/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 b="1" i="0">
                <a:solidFill>
                  <a:srgbClr val="0F2240"/>
                </a:solidFill>
                <a:latin typeface="Arial"/>
              </a:rPr>
              <a:t>On-device AI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50" b="0" i="0">
                <a:solidFill>
                  <a:srgbClr val="555E6C"/>
                </a:solidFill>
                <a:latin typeface="Arial"/>
              </a:rPr>
              <a:t>ONNX Runtime Web · Transformers.js · Tesseract.js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87287" y="5157216"/>
            <a:ext cx="2636443" cy="1106423"/>
          </a:xfrm>
          <a:prstGeom prst="roundRect">
            <a:avLst>
              <a:gd name="adj" fmla="val 6611"/>
            </a:avLst>
          </a:prstGeom>
          <a:solidFill>
            <a:srgbClr val="FFFFFF"/>
          </a:solidFill>
          <a:ln w="9525">
            <a:solidFill>
              <a:srgbClr val="DC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7782" bIns="87782"/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 b="1" i="0">
                <a:solidFill>
                  <a:srgbClr val="0F2240"/>
                </a:solidFill>
                <a:latin typeface="Arial"/>
              </a:rPr>
              <a:t>Server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50" b="0" i="0">
                <a:solidFill>
                  <a:srgbClr val="555E6C"/>
                </a:solidFill>
                <a:latin typeface="Arial"/>
              </a:rPr>
              <a:t>Node.js · Fastify · OpenAI-compatible APIs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006611" y="5157216"/>
            <a:ext cx="2636443" cy="1106423"/>
          </a:xfrm>
          <a:prstGeom prst="roundRect">
            <a:avLst>
              <a:gd name="adj" fmla="val 6611"/>
            </a:avLst>
          </a:prstGeom>
          <a:solidFill>
            <a:srgbClr val="FFFFFF"/>
          </a:solidFill>
          <a:ln w="9525">
            <a:solidFill>
              <a:srgbClr val="DC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87782" bIns="87782"/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50" b="1" i="0">
                <a:solidFill>
                  <a:srgbClr val="0F2240"/>
                </a:solidFill>
                <a:latin typeface="Arial"/>
              </a:rPr>
              <a:t>Tooling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50" b="0" i="0">
                <a:solidFill>
                  <a:srgbClr val="555E6C"/>
                </a:solidFill>
                <a:latin typeface="Arial"/>
              </a:rPr>
              <a:t>pnpm · Vitest · Playwright · ESLint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00" b="1" i="0">
                <a:solidFill>
                  <a:srgbClr val="0E8A80"/>
                </a:solidFill>
                <a:latin typeface="Arial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600" b="1" i="0">
                <a:solidFill>
                  <a:srgbClr val="0F2240"/>
                </a:solidFill>
                <a:latin typeface="Arial"/>
              </a:rPr>
              <a:t>Measured end to end with the real extension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DCE1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00" b="1" i="0">
                <a:solidFill>
                  <a:srgbClr val="0F2240"/>
                </a:solidFill>
                <a:latin typeface="Arial"/>
              </a:rPr>
              <a:t>GLASSWALL</a:t>
            </a:r>
            <a:r>
              <a:rPr sz="1000" b="0" i="0">
                <a:solidFill>
                  <a:srgbClr val="8A93A2"/>
                </a:solidFill>
                <a:latin typeface="Arial"/>
              </a:rPr>
              <a:t>   Privacy-preserving browser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1000" b="0" i="0">
                <a:solidFill>
                  <a:srgbClr val="8A93A2"/>
                </a:solidFill>
                <a:latin typeface="Arial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1727149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C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48640" y="1371600"/>
            <a:ext cx="54864" cy="1280160"/>
          </a:xfrm>
          <a:prstGeom prst="roundRect">
            <a:avLst>
              <a:gd name="adj" fmla="val 33333"/>
            </a:avLst>
          </a:prstGeom>
          <a:solidFill>
            <a:srgbClr val="0E8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94944" y="1463040"/>
            <a:ext cx="150769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1" i="0">
                <a:solidFill>
                  <a:srgbClr val="555E6C"/>
                </a:solidFill>
                <a:latin typeface="Arial"/>
              </a:rPr>
              <a:t>Page elements found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1719072"/>
            <a:ext cx="150769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600" b="1" i="0">
                <a:solidFill>
                  <a:srgbClr val="0E8A80"/>
                </a:solidFill>
                <a:latin typeface="Arial"/>
              </a:rPr>
              <a:t>97.8 %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2194560"/>
            <a:ext cx="1507693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 i="0">
                <a:solidFill>
                  <a:srgbClr val="8A93A2"/>
                </a:solidFill>
                <a:latin typeface="Arial"/>
              </a:rPr>
              <a:t>precision 99.7 %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22093" y="1371600"/>
            <a:ext cx="1727149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C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2422093" y="1371600"/>
            <a:ext cx="54864" cy="1280160"/>
          </a:xfrm>
          <a:prstGeom prst="roundRect">
            <a:avLst>
              <a:gd name="adj" fmla="val 33333"/>
            </a:avLst>
          </a:prstGeom>
          <a:solidFill>
            <a:srgbClr val="0E8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2568397" y="1463040"/>
            <a:ext cx="150769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1" i="0">
                <a:solidFill>
                  <a:srgbClr val="555E6C"/>
                </a:solidFill>
                <a:latin typeface="Arial"/>
              </a:rPr>
              <a:t>Personal data caught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8397" y="1719072"/>
            <a:ext cx="150769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600" b="1" i="0">
                <a:solidFill>
                  <a:srgbClr val="0E8A80"/>
                </a:solidFill>
                <a:latin typeface="Arial"/>
              </a:rPr>
              <a:t>100 %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8397" y="2194560"/>
            <a:ext cx="1507693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 i="0">
                <a:solidFill>
                  <a:srgbClr val="8A93A2"/>
                </a:solidFill>
                <a:latin typeface="Arial"/>
              </a:rPr>
              <a:t>0 leaks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5546" y="1371600"/>
            <a:ext cx="1727149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C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4295546" y="1371600"/>
            <a:ext cx="54864" cy="1280160"/>
          </a:xfrm>
          <a:prstGeom prst="roundRect">
            <a:avLst>
              <a:gd name="adj" fmla="val 33333"/>
            </a:avLst>
          </a:prstGeom>
          <a:solidFill>
            <a:srgbClr val="0E8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441850" y="1463040"/>
            <a:ext cx="150769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1" i="0">
                <a:solidFill>
                  <a:srgbClr val="555E6C"/>
                </a:solidFill>
                <a:latin typeface="Arial"/>
              </a:rPr>
              <a:t>Redaction precision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1850" y="1719072"/>
            <a:ext cx="150769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600" b="1" i="0">
                <a:solidFill>
                  <a:srgbClr val="0E8A80"/>
                </a:solidFill>
                <a:latin typeface="Arial"/>
              </a:rPr>
              <a:t>95.6 %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41850" y="2194560"/>
            <a:ext cx="1507693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 i="0">
                <a:solidFill>
                  <a:srgbClr val="8A93A2"/>
                </a:solidFill>
                <a:latin typeface="Arial"/>
              </a:rPr>
              <a:t>regions that needed hiding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8999" y="1371600"/>
            <a:ext cx="1727149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C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6168999" y="1371600"/>
            <a:ext cx="54864" cy="1280160"/>
          </a:xfrm>
          <a:prstGeom prst="roundRect">
            <a:avLst>
              <a:gd name="adj" fmla="val 33333"/>
            </a:avLst>
          </a:prstGeom>
          <a:solidFill>
            <a:srgbClr val="0F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315303" y="1463040"/>
            <a:ext cx="150769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1" i="0">
                <a:solidFill>
                  <a:srgbClr val="555E6C"/>
                </a:solidFill>
                <a:latin typeface="Arial"/>
              </a:rPr>
              <a:t>Local work per step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15303" y="1719072"/>
            <a:ext cx="150769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600" b="1" i="0">
                <a:solidFill>
                  <a:srgbClr val="0F2240"/>
                </a:solidFill>
                <a:latin typeface="Arial"/>
              </a:rPr>
              <a:t>1.8 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15303" y="2194560"/>
            <a:ext cx="1507693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 i="0">
                <a:solidFill>
                  <a:srgbClr val="8A93A2"/>
                </a:solidFill>
                <a:latin typeface="Arial"/>
              </a:rPr>
              <a:t>payload 41 KB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2452" y="1371600"/>
            <a:ext cx="1727149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C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/>
          <p:cNvSpPr/>
          <p:nvPr/>
        </p:nvSpPr>
        <p:spPr>
          <a:xfrm>
            <a:off x="8042452" y="1371600"/>
            <a:ext cx="54864" cy="1280160"/>
          </a:xfrm>
          <a:prstGeom prst="roundRect">
            <a:avLst>
              <a:gd name="adj" fmla="val 33333"/>
            </a:avLst>
          </a:prstGeom>
          <a:solidFill>
            <a:srgbClr val="0F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8188756" y="1463040"/>
            <a:ext cx="150769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1" i="0">
                <a:solidFill>
                  <a:srgbClr val="555E6C"/>
                </a:solidFill>
                <a:latin typeface="Arial"/>
              </a:rPr>
              <a:t>Time per step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88756" y="1719072"/>
            <a:ext cx="150769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600" b="1" i="0">
                <a:solidFill>
                  <a:srgbClr val="0F2240"/>
                </a:solidFill>
                <a:latin typeface="Arial"/>
              </a:rPr>
              <a:t>2.1 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88756" y="2194560"/>
            <a:ext cx="1507693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 i="0">
                <a:solidFill>
                  <a:srgbClr val="8A93A2"/>
                </a:solidFill>
                <a:latin typeface="Arial"/>
              </a:rPr>
              <a:t>p95 2.7 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915906" y="1371600"/>
            <a:ext cx="1727149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C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9915906" y="1371600"/>
            <a:ext cx="54864" cy="1280160"/>
          </a:xfrm>
          <a:prstGeom prst="roundRect">
            <a:avLst>
              <a:gd name="adj" fmla="val 33333"/>
            </a:avLst>
          </a:prstGeom>
          <a:solidFill>
            <a:srgbClr val="0F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10062210" y="1463040"/>
            <a:ext cx="150769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1" i="0">
                <a:solidFill>
                  <a:srgbClr val="555E6C"/>
                </a:solidFill>
                <a:latin typeface="Arial"/>
              </a:rPr>
              <a:t>Tasks completed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62210" y="1719072"/>
            <a:ext cx="150769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600" b="1" i="0">
                <a:solidFill>
                  <a:srgbClr val="0F2240"/>
                </a:solidFill>
                <a:latin typeface="Arial"/>
              </a:rPr>
              <a:t>33 / 33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62210" y="2194560"/>
            <a:ext cx="1507693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0" i="0">
                <a:solidFill>
                  <a:srgbClr val="8A93A2"/>
                </a:solidFill>
                <a:latin typeface="Arial"/>
              </a:rPr>
              <a:t>6 tasks · 3 seeds · 2 policies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2715768"/>
            <a:ext cx="11094415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50" b="0" i="1">
                <a:solidFill>
                  <a:srgbClr val="8A93A2"/>
                </a:solidFill>
                <a:latin typeface="Arial"/>
              </a:rPr>
              <a:t>Automated runs on three test websites, on an ordinary laptop (Apple M1, 8 GB).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3291840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00" b="1" i="0">
                <a:solidFill>
                  <a:srgbClr val="0E8A80"/>
                </a:solidFill>
                <a:latin typeface="Arial"/>
              </a:rPr>
              <a:t>WHAT LEAVES THE DEVICE (REAL CAPTURES)</a:t>
            </a:r>
          </a:p>
        </p:txBody>
      </p:sp>
      <p:pic>
        <p:nvPicPr>
          <p:cNvPr id="39" name="Picture 38" descr="clinic-before-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657600"/>
            <a:ext cx="3566160" cy="975122"/>
          </a:xfrm>
          <a:prstGeom prst="rect">
            <a:avLst/>
          </a:prstGeom>
          <a:ln w="9525">
            <a:solidFill>
              <a:srgbClr val="DCE1E9"/>
            </a:solidFill>
          </a:ln>
        </p:spPr>
      </p:pic>
      <p:cxnSp>
        <p:nvCxnSpPr>
          <p:cNvPr id="40" name="Connector 39"/>
          <p:cNvCxnSpPr/>
          <p:nvPr/>
        </p:nvCxnSpPr>
        <p:spPr>
          <a:xfrm>
            <a:off x="4224527" y="4160520"/>
            <a:ext cx="329185" cy="0"/>
          </a:xfrm>
          <a:prstGeom prst="line">
            <a:avLst/>
          </a:prstGeom>
          <a:ln w="25400">
            <a:solidFill>
              <a:srgbClr val="1B35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1" name="Picture 40" descr="redacted-wi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3657600"/>
            <a:ext cx="1458439" cy="978408"/>
          </a:xfrm>
          <a:prstGeom prst="rect">
            <a:avLst/>
          </a:prstGeom>
          <a:ln w="9525">
            <a:solidFill>
              <a:srgbClr val="DCE1E9"/>
            </a:solidFill>
          </a:ln>
        </p:spPr>
      </p:pic>
      <p:sp>
        <p:nvSpPr>
          <p:cNvPr id="42" name="TextBox 41"/>
          <p:cNvSpPr txBox="1"/>
          <p:nvPr/>
        </p:nvSpPr>
        <p:spPr>
          <a:xfrm>
            <a:off x="548640" y="4754880"/>
            <a:ext cx="3566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1" i="0">
                <a:solidFill>
                  <a:srgbClr val="C0392B"/>
                </a:solidFill>
                <a:latin typeface="Arial"/>
              </a:rPr>
              <a:t>Before: </a:t>
            </a:r>
            <a:r>
              <a:rPr sz="1200" b="0" i="0">
                <a:solidFill>
                  <a:srgbClr val="555E6C"/>
                </a:solidFill>
                <a:latin typeface="Arial"/>
              </a:rPr>
              <a:t>the page as rendered.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63440" y="4754880"/>
            <a:ext cx="19202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1" i="0">
                <a:solidFill>
                  <a:srgbClr val="0E8A80"/>
                </a:solidFill>
                <a:latin typeface="Arial"/>
              </a:rPr>
              <a:t>After: </a:t>
            </a:r>
            <a:r>
              <a:rPr sz="1200" b="0" i="0">
                <a:solidFill>
                  <a:srgbClr val="555E6C"/>
                </a:solidFill>
                <a:latin typeface="Arial"/>
              </a:rPr>
              <a:t>the only image that can leave.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49440" y="3291840"/>
            <a:ext cx="46936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00" b="1" i="0">
                <a:solidFill>
                  <a:srgbClr val="0E8A80"/>
                </a:solidFill>
                <a:latin typeface="Arial"/>
              </a:rPr>
              <a:t>WITH A REAL LLM PLANNER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949440" y="3657600"/>
            <a:ext cx="4693615" cy="1737360"/>
          </a:xfrm>
          <a:prstGeom prst="roundRect">
            <a:avLst>
              <a:gd name="adj" fmla="val 4210"/>
            </a:avLst>
          </a:prstGeom>
          <a:solidFill>
            <a:srgbClr val="FFFFFF"/>
          </a:solidFill>
          <a:ln w="9525">
            <a:solidFill>
              <a:srgbClr val="DC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20700" bIns="120700"/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0F2240"/>
                </a:solidFill>
                <a:latin typeface="Arial"/>
              </a:rPr>
              <a:t>11 / 11 tasks completed  ·  0 leaks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400" b="1" i="0">
                <a:solidFill>
                  <a:srgbClr val="0F2240"/>
                </a:solidFill>
                <a:latin typeface="Arial"/>
              </a:rPr>
              <a:t>3.4 s per step, median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00" b="0" i="0">
                <a:solidFill>
                  <a:srgbClr val="555E6C"/>
                </a:solidFill>
                <a:latin typeface="Arial"/>
              </a:rPr>
              <a:t>Privacy results did not change; only network and model time was added.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00" b="1" i="0">
                <a:solidFill>
                  <a:srgbClr val="0E8A80"/>
                </a:solidFill>
                <a:latin typeface="Arial"/>
              </a:rPr>
              <a:t>SCALABILITY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600" b="1" i="0">
                <a:solidFill>
                  <a:srgbClr val="0F2240"/>
                </a:solidFill>
                <a:latin typeface="Arial"/>
              </a:rPr>
              <a:t>Why it scales, and what comes next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6419088"/>
            <a:ext cx="11094415" cy="0"/>
          </a:xfrm>
          <a:prstGeom prst="line">
            <a:avLst/>
          </a:prstGeom>
          <a:ln w="9525">
            <a:solidFill>
              <a:srgbClr val="DCE1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00" b="1" i="0">
                <a:solidFill>
                  <a:srgbClr val="0F2240"/>
                </a:solidFill>
                <a:latin typeface="Arial"/>
              </a:rPr>
              <a:t>GLASSWALL</a:t>
            </a:r>
            <a:r>
              <a:rPr sz="1000" b="0" i="0">
                <a:solidFill>
                  <a:srgbClr val="8A93A2"/>
                </a:solidFill>
                <a:latin typeface="Arial"/>
              </a:rPr>
              <a:t>   Privacy-preserving browser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1000" b="0" i="0">
                <a:solidFill>
                  <a:srgbClr val="8A93A2"/>
                </a:solidFill>
                <a:latin typeface="Arial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53312"/>
            <a:ext cx="53643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00" b="1" i="0">
                <a:solidFill>
                  <a:srgbClr val="0E8A80"/>
                </a:solidFill>
                <a:latin typeface="Arial"/>
              </a:rPr>
              <a:t>WHY IT SCALES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78727" y="1353312"/>
            <a:ext cx="53643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00" b="1" i="0">
                <a:solidFill>
                  <a:srgbClr val="0F2240"/>
                </a:solidFill>
                <a:latin typeface="Arial"/>
              </a:rPr>
              <a:t>NEXT STEPS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700784"/>
            <a:ext cx="5364327" cy="1037843"/>
          </a:xfrm>
          <a:prstGeom prst="roundRect">
            <a:avLst>
              <a:gd name="adj" fmla="val 7048"/>
            </a:avLst>
          </a:prstGeom>
          <a:solidFill>
            <a:srgbClr val="FFFFFF"/>
          </a:solidFill>
          <a:ln w="9525">
            <a:solidFill>
              <a:srgbClr val="DC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548640" y="1700784"/>
            <a:ext cx="64008" cy="1037843"/>
          </a:xfrm>
          <a:prstGeom prst="roundRect">
            <a:avLst>
              <a:gd name="adj" fmla="val 28571"/>
            </a:avLst>
          </a:prstGeom>
          <a:solidFill>
            <a:srgbClr val="0E8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77240" y="1700784"/>
            <a:ext cx="5044287" cy="103784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50" b="0" i="0">
                <a:solidFill>
                  <a:srgbClr val="1B1F27"/>
                </a:solidFill>
                <a:latin typeface="Arial"/>
              </a:rPr>
              <a:t>All perception runs on the user's device, so the server stays small.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875787"/>
            <a:ext cx="5364327" cy="1037843"/>
          </a:xfrm>
          <a:prstGeom prst="roundRect">
            <a:avLst>
              <a:gd name="adj" fmla="val 7048"/>
            </a:avLst>
          </a:prstGeom>
          <a:solidFill>
            <a:srgbClr val="FFFFFF"/>
          </a:solidFill>
          <a:ln w="9525">
            <a:solidFill>
              <a:srgbClr val="DC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548640" y="2875787"/>
            <a:ext cx="64008" cy="1037843"/>
          </a:xfrm>
          <a:prstGeom prst="roundRect">
            <a:avLst>
              <a:gd name="adj" fmla="val 28571"/>
            </a:avLst>
          </a:prstGeom>
          <a:solidFill>
            <a:srgbClr val="0E8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77240" y="2875787"/>
            <a:ext cx="5044287" cy="103784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50" b="0" i="0">
                <a:solidFill>
                  <a:srgbClr val="1B1F27"/>
                </a:solidFill>
                <a:latin typeface="Arial"/>
              </a:rPr>
              <a:t>Each step sends about 17 to 40 KB, not a full screenshot.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050791"/>
            <a:ext cx="5364327" cy="1037843"/>
          </a:xfrm>
          <a:prstGeom prst="roundRect">
            <a:avLst>
              <a:gd name="adj" fmla="val 7048"/>
            </a:avLst>
          </a:prstGeom>
          <a:solidFill>
            <a:srgbClr val="FFFFFF"/>
          </a:solidFill>
          <a:ln w="9525">
            <a:solidFill>
              <a:srgbClr val="DC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548640" y="4050791"/>
            <a:ext cx="64008" cy="1037843"/>
          </a:xfrm>
          <a:prstGeom prst="roundRect">
            <a:avLst>
              <a:gd name="adj" fmla="val 28571"/>
            </a:avLst>
          </a:prstGeom>
          <a:solidFill>
            <a:srgbClr val="0E8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77240" y="4050791"/>
            <a:ext cx="5044287" cy="103784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50" b="0" i="0">
                <a:solidFill>
                  <a:srgbClr val="1B1F27"/>
                </a:solidFill>
                <a:latin typeface="Arial"/>
              </a:rPr>
              <a:t>Works with any LLM: local and offline, or hosted.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225796"/>
            <a:ext cx="5364327" cy="1037843"/>
          </a:xfrm>
          <a:prstGeom prst="roundRect">
            <a:avLst>
              <a:gd name="adj" fmla="val 7048"/>
            </a:avLst>
          </a:prstGeom>
          <a:solidFill>
            <a:srgbClr val="FFFFFF"/>
          </a:solidFill>
          <a:ln w="9525">
            <a:solidFill>
              <a:srgbClr val="DC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548640" y="5225796"/>
            <a:ext cx="64008" cy="1037843"/>
          </a:xfrm>
          <a:prstGeom prst="roundRect">
            <a:avLst>
              <a:gd name="adj" fmla="val 28571"/>
            </a:avLst>
          </a:prstGeom>
          <a:solidFill>
            <a:srgbClr val="0E8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77240" y="5225796"/>
            <a:ext cx="5044287" cy="103784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50" b="0" i="0">
                <a:solidFill>
                  <a:srgbClr val="1B1F27"/>
                </a:solidFill>
                <a:latin typeface="Arial"/>
              </a:rPr>
              <a:t>Same privacy boundary on every website, by design.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78727" y="1700784"/>
            <a:ext cx="5364327" cy="1037843"/>
          </a:xfrm>
          <a:prstGeom prst="roundRect">
            <a:avLst>
              <a:gd name="adj" fmla="val 7048"/>
            </a:avLst>
          </a:prstGeom>
          <a:solidFill>
            <a:srgbClr val="FFFFFF"/>
          </a:solidFill>
          <a:ln w="9525">
            <a:solidFill>
              <a:srgbClr val="DC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6278727" y="1700784"/>
            <a:ext cx="64008" cy="1037843"/>
          </a:xfrm>
          <a:prstGeom prst="roundRect">
            <a:avLst>
              <a:gd name="adj" fmla="val 28571"/>
            </a:avLst>
          </a:prstGeom>
          <a:solidFill>
            <a:srgbClr val="0F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507327" y="1700784"/>
            <a:ext cx="5044287" cy="103784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50" b="0" i="0">
                <a:solidFill>
                  <a:srgbClr val="1B1F27"/>
                </a:solidFill>
                <a:latin typeface="Arial"/>
              </a:rPr>
              <a:t>A smaller, faster NER model on WebGPU.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78727" y="2875787"/>
            <a:ext cx="5364327" cy="1037843"/>
          </a:xfrm>
          <a:prstGeom prst="roundRect">
            <a:avLst>
              <a:gd name="adj" fmla="val 7048"/>
            </a:avLst>
          </a:prstGeom>
          <a:solidFill>
            <a:srgbClr val="FFFFFF"/>
          </a:solidFill>
          <a:ln w="9525">
            <a:solidFill>
              <a:srgbClr val="DC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6278727" y="2875787"/>
            <a:ext cx="64008" cy="1037843"/>
          </a:xfrm>
          <a:prstGeom prst="roundRect">
            <a:avLst>
              <a:gd name="adj" fmla="val 28571"/>
            </a:avLst>
          </a:prstGeom>
          <a:solidFill>
            <a:srgbClr val="0F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507327" y="2875787"/>
            <a:ext cx="5044287" cy="103784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50" b="0" i="0">
                <a:solidFill>
                  <a:srgbClr val="1B1F27"/>
                </a:solidFill>
                <a:latin typeface="Arial"/>
              </a:rPr>
              <a:t>A face and document detector for images.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78727" y="4050791"/>
            <a:ext cx="5364327" cy="1037843"/>
          </a:xfrm>
          <a:prstGeom prst="roundRect">
            <a:avLst>
              <a:gd name="adj" fmla="val 7048"/>
            </a:avLst>
          </a:prstGeom>
          <a:solidFill>
            <a:srgbClr val="FFFFFF"/>
          </a:solidFill>
          <a:ln w="9525">
            <a:solidFill>
              <a:srgbClr val="DC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/>
          <p:cNvSpPr/>
          <p:nvPr/>
        </p:nvSpPr>
        <p:spPr>
          <a:xfrm>
            <a:off x="6278727" y="4050791"/>
            <a:ext cx="64008" cy="1037843"/>
          </a:xfrm>
          <a:prstGeom prst="roundRect">
            <a:avLst>
              <a:gd name="adj" fmla="val 28571"/>
            </a:avLst>
          </a:prstGeom>
          <a:solidFill>
            <a:srgbClr val="0F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507327" y="4050791"/>
            <a:ext cx="5044287" cy="103784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50" b="0" i="0">
                <a:solidFill>
                  <a:srgbClr val="1B1F27"/>
                </a:solidFill>
                <a:latin typeface="Arial"/>
              </a:rPr>
              <a:t>A hosted server with TLS and per-user limits.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78727" y="5225796"/>
            <a:ext cx="5364327" cy="1037843"/>
          </a:xfrm>
          <a:prstGeom prst="roundRect">
            <a:avLst>
              <a:gd name="adj" fmla="val 7048"/>
            </a:avLst>
          </a:prstGeom>
          <a:solidFill>
            <a:srgbClr val="FFFFFF"/>
          </a:solidFill>
          <a:ln w="9525">
            <a:solidFill>
              <a:srgbClr val="DCE1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ounded Rectangle 30"/>
          <p:cNvSpPr/>
          <p:nvPr/>
        </p:nvSpPr>
        <p:spPr>
          <a:xfrm>
            <a:off x="6278727" y="5225796"/>
            <a:ext cx="64008" cy="1037843"/>
          </a:xfrm>
          <a:prstGeom prst="roundRect">
            <a:avLst>
              <a:gd name="adj" fmla="val 28571"/>
            </a:avLst>
          </a:prstGeom>
          <a:solidFill>
            <a:srgbClr val="0F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507327" y="5225796"/>
            <a:ext cx="5044287" cy="103784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50" b="0" i="0">
                <a:solidFill>
                  <a:srgbClr val="1B1F27"/>
                </a:solidFill>
                <a:latin typeface="Arial"/>
              </a:rPr>
              <a:t>Firefox support and a signed audit log.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2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48640" y="2377440"/>
            <a:ext cx="82296" cy="1737360"/>
          </a:xfrm>
          <a:prstGeom prst="roundRect">
            <a:avLst>
              <a:gd name="adj" fmla="val 22222"/>
            </a:avLst>
          </a:prstGeom>
          <a:solidFill>
            <a:srgbClr val="0E8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68680" y="2286000"/>
            <a:ext cx="8229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4800" b="1" i="0">
                <a:solidFill>
                  <a:srgbClr val="FFFFFF"/>
                </a:solidFill>
                <a:latin typeface="Arial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20040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200" b="0" i="0">
                <a:solidFill>
                  <a:srgbClr val="C9D6EA"/>
                </a:solidFill>
                <a:latin typeface="Arial"/>
              </a:rPr>
              <a:t>Questions and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846320"/>
            <a:ext cx="8229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GLASSWALL  ·  A privacy-preserving browser agent with on-device visual perception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200" b="0" i="0">
                <a:solidFill>
                  <a:srgbClr val="0E8A80"/>
                </a:solidFill>
                <a:latin typeface="Arial"/>
              </a:rPr>
              <a:t>Source and reports: github.com/rkhooda/GlassWall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